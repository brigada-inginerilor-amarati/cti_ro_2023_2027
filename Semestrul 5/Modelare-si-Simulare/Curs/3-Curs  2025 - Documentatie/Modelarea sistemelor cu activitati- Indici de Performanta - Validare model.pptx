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7" r:id="rId3"/>
    <p:sldId id="292" r:id="rId4"/>
    <p:sldId id="289" r:id="rId5"/>
    <p:sldId id="290" r:id="rId6"/>
    <p:sldId id="294" r:id="rId7"/>
    <p:sldId id="306" r:id="rId8"/>
    <p:sldId id="295" r:id="rId9"/>
    <p:sldId id="304" r:id="rId10"/>
    <p:sldId id="305" r:id="rId11"/>
    <p:sldId id="27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88696" autoAdjust="0"/>
  </p:normalViewPr>
  <p:slideViewPr>
    <p:cSldViewPr>
      <p:cViewPr varScale="1">
        <p:scale>
          <a:sx n="80" d="100"/>
          <a:sy n="80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7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447D5-065F-4964-8351-5E8EAAA9C1F2}" type="datetimeFigureOut">
              <a:rPr lang="en-GB" smtClean="0"/>
              <a:pPr/>
              <a:t>20/11/2025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7CF59-D3B8-4EFB-B942-042DB09CFAA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85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B7CF59-D3B8-4EFB-B942-042DB09CFAAD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7CF59-D3B8-4EFB-B942-042DB09CFAA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421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B7CF59-D3B8-4EFB-B942-042DB09CFAAD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4737-396B-4F9A-9A48-9D4836EE6BD4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A23CD-59B6-4F3B-AACF-110DE51D251D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0B15A-B99C-4008-8809-807682CDA677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9704-9BF9-416C-86F9-A0C76AD45FBD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3D3B4-4FFF-42D7-98E9-48276DFCF2DA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0711-409C-415B-8723-EA0870404194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52C7-540D-4051-9810-3749CF3097AA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5931-5762-4168-AC33-EA13852F8FD4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67E3-C84A-4BCB-96B8-F1BD3BDB5FAF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0D0A-42DE-457D-B66D-141F1D057220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DD36-45E6-4416-A74E-9AD7585042F8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453E2-D57C-45DC-A66C-FB2485B9648E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781B2-1D32-4AB5-AA59-519EF501497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692696"/>
            <a:ext cx="7772400" cy="1872208"/>
          </a:xfrm>
        </p:spPr>
        <p:txBody>
          <a:bodyPr>
            <a:noAutofit/>
          </a:bodyPr>
          <a:lstStyle/>
          <a:p>
            <a:r>
              <a:rPr lang="vi-VN" b="1" i="1" dirty="0">
                <a:latin typeface="Times New Roman" pitchFamily="18" charset="0"/>
                <a:cs typeface="Times New Roman" pitchFamily="18" charset="0"/>
              </a:rPr>
              <a:t>Elemente de bază în modelarea sistemelor cu şiruri de aşteptare</a:t>
            </a:r>
            <a:br>
              <a:rPr lang="en-US" b="1" i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CONCEPTE</a:t>
            </a:r>
            <a:endParaRPr lang="en-GB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2852936"/>
            <a:ext cx="3447653" cy="321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CC98-D4C9-4C4C-BE4A-E4B311932126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ACAA-4A4B-40A1-A101-59C41CE994D8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1442310" cy="1346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672" y="332656"/>
            <a:ext cx="6840760" cy="1143000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/>
              <a:t>      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Sistemul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Modelat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0" y="1828800"/>
            <a:ext cx="18601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endParaRPr lang="en-US">
              <a:latin typeface="Times New Roman" pitchFamily="18" charset="0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1988840"/>
            <a:ext cx="1971675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3848" y="1772816"/>
            <a:ext cx="5495925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11560" y="5085184"/>
            <a:ext cx="7416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002060"/>
                </a:solidFill>
              </a:rPr>
              <a:t>Sistemul modelat este descris de o secvență de evenimente  interconectate care se desfășoară în timp la momente discrete de timp.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332656"/>
            <a:ext cx="7067128" cy="1143000"/>
          </a:xfrm>
          <a:noFill/>
        </p:spPr>
        <p:txBody>
          <a:bodyPr>
            <a:noAutofit/>
          </a:bodyPr>
          <a:lstStyle/>
          <a:p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Arhitectura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cu </a:t>
            </a:r>
            <a:r>
              <a:rPr lang="ro-RO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ș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iruri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de a</a:t>
            </a:r>
            <a:r>
              <a:rPr lang="ro-RO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ș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teptare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92D8-065A-4329-9380-D339E90B452F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60648"/>
            <a:ext cx="1442310" cy="1346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o-RO" sz="2400" dirty="0"/>
              <a:t>Modelul se reprezintă prin două componente</a:t>
            </a:r>
          </a:p>
          <a:p>
            <a:endParaRPr lang="ro-RO" sz="2400" dirty="0"/>
          </a:p>
          <a:p>
            <a:pPr marL="514350" indent="-514350">
              <a:buFont typeface="+mj-lt"/>
              <a:buAutoNum type="alphaLcParenR"/>
            </a:pPr>
            <a:r>
              <a:rPr lang="ro-RO" sz="2400" dirty="0">
                <a:solidFill>
                  <a:srgbClr val="C00000"/>
                </a:solidFill>
              </a:rPr>
              <a:t>Un graf </a:t>
            </a:r>
            <a:r>
              <a:rPr lang="ro-RO" sz="2400" dirty="0"/>
              <a:t>care descrie succesiunea evenimentelor din sistemul din lumea reală.</a:t>
            </a:r>
          </a:p>
          <a:p>
            <a:pPr marL="514350" indent="-514350">
              <a:buFont typeface="+mj-lt"/>
              <a:buAutoNum type="alphaLcParenR"/>
            </a:pPr>
            <a:endParaRPr lang="ro-RO" sz="2400" dirty="0"/>
          </a:p>
          <a:p>
            <a:pPr marL="514350" indent="-514350">
              <a:buFont typeface="+mj-lt"/>
              <a:buAutoNum type="alphaLcParenR"/>
            </a:pPr>
            <a:r>
              <a:rPr lang="ro-RO" sz="2400" dirty="0">
                <a:solidFill>
                  <a:srgbClr val="C00000"/>
                </a:solidFill>
              </a:rPr>
              <a:t>Un element mobil </a:t>
            </a:r>
            <a:r>
              <a:rPr lang="ro-RO" sz="2400" dirty="0"/>
              <a:t>care definește solicitarea ce declanșează un eveniment din sistemul modelat.</a:t>
            </a:r>
            <a:endParaRPr lang="en-GB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332656"/>
            <a:ext cx="7067128" cy="1143000"/>
          </a:xfrm>
          <a:noFill/>
        </p:spPr>
        <p:txBody>
          <a:bodyPr>
            <a:noAutofit/>
          </a:bodyPr>
          <a:lstStyle/>
          <a:p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Arhitectura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cu </a:t>
            </a:r>
            <a:r>
              <a:rPr lang="ro-RO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ș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iruri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de a</a:t>
            </a:r>
            <a:r>
              <a:rPr lang="ro-RO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ș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teptare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92D8-065A-4329-9380-D339E90B452F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1442310" cy="1346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395536" y="1772816"/>
            <a:ext cx="8229600" cy="45259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o-RO" sz="2400" dirty="0"/>
              <a:t>În structura de tip graf</a:t>
            </a:r>
          </a:p>
          <a:p>
            <a:pPr algn="just"/>
            <a:r>
              <a:rPr lang="ro-RO" sz="2400" dirty="0">
                <a:solidFill>
                  <a:srgbClr val="FF0000"/>
                </a:solidFill>
              </a:rPr>
              <a:t>Nodurile</a:t>
            </a:r>
            <a:r>
              <a:rPr lang="ro-RO" sz="2400" dirty="0"/>
              <a:t> </a:t>
            </a:r>
          </a:p>
          <a:p>
            <a:pPr algn="just">
              <a:buNone/>
            </a:pPr>
            <a:r>
              <a:rPr lang="ro-RO" sz="2400" dirty="0"/>
              <a:t>         reprezintă activități.</a:t>
            </a:r>
          </a:p>
          <a:p>
            <a:pPr algn="just"/>
            <a:r>
              <a:rPr lang="ro-RO" sz="2400" dirty="0">
                <a:solidFill>
                  <a:srgbClr val="FF0000"/>
                </a:solidFill>
              </a:rPr>
              <a:t>Arcele</a:t>
            </a:r>
            <a:r>
              <a:rPr lang="ro-RO" sz="2400" dirty="0"/>
              <a:t> </a:t>
            </a:r>
          </a:p>
          <a:p>
            <a:pPr algn="just">
              <a:buNone/>
            </a:pPr>
            <a:r>
              <a:rPr lang="ro-RO" sz="2400" dirty="0"/>
              <a:t>       definesc suc</a:t>
            </a:r>
            <a:r>
              <a:rPr lang="en-US" sz="2400" dirty="0"/>
              <a:t>c</a:t>
            </a:r>
            <a:r>
              <a:rPr lang="ro-RO" sz="2400" dirty="0" err="1"/>
              <a:t>esiunea</a:t>
            </a:r>
            <a:r>
              <a:rPr lang="ro-RO" sz="2400" dirty="0"/>
              <a:t> în timp a activităților. Datorită faptului că arcele prezintă un sens de conectare, graful sistemului este orientat.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332656"/>
            <a:ext cx="7067128" cy="1143000"/>
          </a:xfrm>
          <a:noFill/>
        </p:spPr>
        <p:txBody>
          <a:bodyPr>
            <a:noAutofit/>
          </a:bodyPr>
          <a:lstStyle/>
          <a:p>
            <a:r>
              <a:rPr lang="ro-RO" b="1" dirty="0"/>
              <a:t>Structura</a:t>
            </a:r>
            <a:br>
              <a:rPr lang="ro-RO" b="1" dirty="0"/>
            </a:br>
            <a:r>
              <a:rPr lang="ro-RO" b="1" dirty="0"/>
              <a:t> unui nod a grafului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92D8-065A-4329-9380-D339E90B452F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1442310" cy="1346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51520" y="1700809"/>
            <a:ext cx="8229600" cy="345638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dirty="0"/>
              <a:t> </a:t>
            </a:r>
            <a:endParaRPr lang="ro-RO" dirty="0"/>
          </a:p>
          <a:p>
            <a:pPr algn="just">
              <a:buNone/>
            </a:pPr>
            <a:r>
              <a:rPr lang="ro-RO" dirty="0"/>
              <a:t>    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556792"/>
            <a:ext cx="7187703" cy="348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1331640" y="5589240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Denumirea pentru nod este de </a:t>
            </a:r>
            <a:r>
              <a:rPr lang="ro-RO" sz="2400" dirty="0">
                <a:solidFill>
                  <a:srgbClr val="FF0000"/>
                </a:solidFill>
              </a:rPr>
              <a:t>centru de servire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3" name="Up Arrow 12"/>
          <p:cNvSpPr/>
          <p:nvPr/>
        </p:nvSpPr>
        <p:spPr>
          <a:xfrm>
            <a:off x="4283968" y="4869160"/>
            <a:ext cx="576064" cy="72008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332656"/>
            <a:ext cx="7067128" cy="1143000"/>
          </a:xfrm>
          <a:noFill/>
        </p:spPr>
        <p:txBody>
          <a:bodyPr>
            <a:noAutofit/>
          </a:bodyPr>
          <a:lstStyle/>
          <a:p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Atributele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cu </a:t>
            </a:r>
            <a:r>
              <a:rPr lang="ro-RO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ș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iruri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de a</a:t>
            </a:r>
            <a:r>
              <a:rPr lang="ro-RO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ș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teptare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92D8-065A-4329-9380-D339E90B452F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1442310" cy="1346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395536" y="1772816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ro-RO" sz="2400" dirty="0"/>
              <a:t>Atributele apar atât la nivelul unei activități cât și la nivelul unui client.</a:t>
            </a:r>
          </a:p>
          <a:p>
            <a:pPr algn="just">
              <a:buNone/>
            </a:pPr>
            <a:endParaRPr lang="ro-RO" sz="2400" dirty="0"/>
          </a:p>
          <a:p>
            <a:pPr algn="just"/>
            <a:r>
              <a:rPr lang="ro-RO" sz="2400" dirty="0"/>
              <a:t>În ambele cazuri acestea, caracterizează individual o activitate sau un client. În cazul unui client, este posibil ca atributele să nu fie prezente, caz în care clientul este utilizat numai pentru declanșarea activităților descrise de arhitectura grafului.</a:t>
            </a:r>
          </a:p>
          <a:p>
            <a:pPr algn="just">
              <a:buNone/>
            </a:pPr>
            <a:endParaRPr lang="ro-RO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0F1A7-C3FE-6FA8-F7F1-F2BD02AD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E3E5D99-DF65-589E-36D8-7D7F01729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5616" y="332656"/>
            <a:ext cx="7067128" cy="1143000"/>
          </a:xfrm>
          <a:noFill/>
        </p:spPr>
        <p:txBody>
          <a:bodyPr>
            <a:noAutofit/>
          </a:bodyPr>
          <a:lstStyle/>
          <a:p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Atributele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cu </a:t>
            </a:r>
            <a:r>
              <a:rPr lang="ro-RO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ș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iruri</a:t>
            </a:r>
            <a:r>
              <a:rPr lang="en-GB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de a</a:t>
            </a:r>
            <a:r>
              <a:rPr lang="ro-RO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ș</a:t>
            </a:r>
            <a:r>
              <a:rPr lang="en-GB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teptare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172102A-68BD-5712-4A1F-A154C458F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92D8-065A-4329-9380-D339E90B452F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04088-414E-AD78-A89A-EFC17FF4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AE46D87-A7A2-5E30-675A-74ED58B91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1442310" cy="1346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3A5B15C-A945-91C4-4469-B60506ECB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475656"/>
            <a:ext cx="8229600" cy="48231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noProof="1"/>
              <a:t>Valoare atributelor este stabilită în urma măsurătorilor  efectuate pe sistemul real. </a:t>
            </a:r>
            <a:r>
              <a:rPr lang="ro-RO" sz="2400" noProof="1"/>
              <a:t>Î</a:t>
            </a:r>
            <a:r>
              <a:rPr lang="en-GB" sz="2400" noProof="1"/>
              <a:t>n urma m</a:t>
            </a:r>
            <a:r>
              <a:rPr lang="ro-RO" sz="2400" noProof="1"/>
              <a:t>ă</a:t>
            </a:r>
            <a:r>
              <a:rPr lang="en-GB" sz="2400" noProof="1"/>
              <a:t>surătorilor se obține o valoare medie si un interval de dispersie. </a:t>
            </a:r>
            <a:endParaRPr lang="ro-RO" sz="2400" noProof="1"/>
          </a:p>
          <a:p>
            <a:pPr algn="just"/>
            <a:endParaRPr lang="ro-RO" sz="2400" noProof="1"/>
          </a:p>
          <a:p>
            <a:pPr algn="just"/>
            <a:endParaRPr lang="en-GB" sz="2400" noProof="1"/>
          </a:p>
          <a:p>
            <a:pPr algn="just">
              <a:buNone/>
            </a:pPr>
            <a:endParaRPr lang="ro-RO" sz="2400" dirty="0"/>
          </a:p>
        </p:txBody>
      </p:sp>
      <p:graphicFrame>
        <p:nvGraphicFramePr>
          <p:cNvPr id="10" name="Tabel 9">
            <a:extLst>
              <a:ext uri="{FF2B5EF4-FFF2-40B4-BE49-F238E27FC236}">
                <a16:creationId xmlns:a16="http://schemas.microsoft.com/office/drawing/2014/main" id="{1FB4203D-94E4-8C71-A14E-8E0A02A04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436905"/>
              </p:ext>
            </p:extLst>
          </p:nvPr>
        </p:nvGraphicFramePr>
        <p:xfrm>
          <a:off x="2036762" y="2680266"/>
          <a:ext cx="5105399" cy="377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221">
                  <a:extLst>
                    <a:ext uri="{9D8B030D-6E8A-4147-A177-3AD203B41FA5}">
                      <a16:colId xmlns:a16="http://schemas.microsoft.com/office/drawing/2014/main" val="1804960433"/>
                    </a:ext>
                  </a:extLst>
                </a:gridCol>
                <a:gridCol w="752007">
                  <a:extLst>
                    <a:ext uri="{9D8B030D-6E8A-4147-A177-3AD203B41FA5}">
                      <a16:colId xmlns:a16="http://schemas.microsoft.com/office/drawing/2014/main" val="3562206461"/>
                    </a:ext>
                  </a:extLst>
                </a:gridCol>
                <a:gridCol w="1002676">
                  <a:extLst>
                    <a:ext uri="{9D8B030D-6E8A-4147-A177-3AD203B41FA5}">
                      <a16:colId xmlns:a16="http://schemas.microsoft.com/office/drawing/2014/main" val="3844118354"/>
                    </a:ext>
                  </a:extLst>
                </a:gridCol>
                <a:gridCol w="609221">
                  <a:extLst>
                    <a:ext uri="{9D8B030D-6E8A-4147-A177-3AD203B41FA5}">
                      <a16:colId xmlns:a16="http://schemas.microsoft.com/office/drawing/2014/main" val="2690187760"/>
                    </a:ext>
                  </a:extLst>
                </a:gridCol>
                <a:gridCol w="2132274">
                  <a:extLst>
                    <a:ext uri="{9D8B030D-6E8A-4147-A177-3AD203B41FA5}">
                      <a16:colId xmlns:a16="http://schemas.microsoft.com/office/drawing/2014/main" val="111108816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 fontAlgn="b"/>
                      <a:r>
                        <a:rPr lang="ro-RO" sz="1100" u="none" strike="noStrike">
                          <a:effectLst/>
                        </a:rPr>
                        <a:t>Client</a:t>
                      </a:r>
                      <a:br>
                        <a:rPr lang="ro-RO" sz="1100" u="none" strike="noStrike">
                          <a:effectLst/>
                        </a:rPr>
                      </a:br>
                      <a:r>
                        <a:rPr lang="ro-RO" sz="1100" u="none" strike="noStrike">
                          <a:effectLst/>
                        </a:rPr>
                        <a:t>(cerere)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o-RO" sz="1100" u="none" strike="noStrike">
                          <a:effectLst/>
                        </a:rPr>
                        <a:t>Momentul </a:t>
                      </a:r>
                      <a:br>
                        <a:rPr lang="ro-RO" sz="1100" u="none" strike="noStrike">
                          <a:effectLst/>
                        </a:rPr>
                      </a:br>
                      <a:r>
                        <a:rPr lang="ro-RO" sz="1100" u="none" strike="noStrike">
                          <a:effectLst/>
                        </a:rPr>
                        <a:t>Sosiri</a:t>
                      </a:r>
                      <a:br>
                        <a:rPr lang="ro-RO" sz="1100" u="none" strike="noStrike">
                          <a:effectLst/>
                        </a:rPr>
                      </a:br>
                      <a:r>
                        <a:rPr lang="ro-RO" sz="1100" u="none" strike="noStrike">
                          <a:effectLst/>
                        </a:rPr>
                        <a:t>[ut]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Interval intre</a:t>
                      </a:r>
                      <a:br>
                        <a:rPr lang="it-IT" sz="1100" u="none" strike="noStrike">
                          <a:effectLst/>
                        </a:rPr>
                      </a:br>
                      <a:r>
                        <a:rPr lang="it-IT" sz="1100" u="none" strike="noStrike">
                          <a:effectLst/>
                        </a:rPr>
                        <a:t>doua sosiri </a:t>
                      </a:r>
                      <a:br>
                        <a:rPr lang="it-IT" sz="1100" u="none" strike="noStrike">
                          <a:effectLst/>
                        </a:rPr>
                      </a:br>
                      <a:r>
                        <a:rPr lang="it-IT" sz="1100" u="none" strike="noStrike">
                          <a:effectLst/>
                        </a:rPr>
                        <a:t>succesive</a:t>
                      </a:r>
                      <a:br>
                        <a:rPr lang="it-IT" sz="1100" u="none" strike="noStrike">
                          <a:effectLst/>
                        </a:rPr>
                      </a:br>
                      <a:r>
                        <a:rPr lang="it-IT" sz="1100" u="none" strike="noStrike">
                          <a:effectLst/>
                        </a:rPr>
                        <a:t>[ut]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899096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1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3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3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Valoare medie intervale </a:t>
                      </a:r>
                      <a:br>
                        <a:rPr lang="it-IT" sz="1100" u="none" strike="noStrike">
                          <a:effectLst/>
                        </a:rPr>
                      </a:br>
                      <a:r>
                        <a:rPr lang="it-IT" sz="1100" u="none" strike="noStrike">
                          <a:effectLst/>
                        </a:rPr>
                        <a:t>dintre doua sosiri succesive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738193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2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7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4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rowSpan="4"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096461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3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11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4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594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4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16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5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6893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5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22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6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8244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6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26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4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o-RO" sz="1100" u="none" strike="noStrike">
                          <a:effectLst/>
                        </a:rPr>
                        <a:t>[4,5-1,5              4,5                 4,5+1,5]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764249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7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31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5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903279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8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38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7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7883488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9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41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3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o-RO" sz="1100" u="none" strike="noStrike">
                          <a:effectLst/>
                        </a:rPr>
                        <a:t>interval de dispersie</a:t>
                      </a:r>
                      <a:br>
                        <a:rPr lang="ro-RO" sz="1100" u="none" strike="noStrike">
                          <a:effectLst/>
                        </a:rPr>
                      </a:br>
                      <a:r>
                        <a:rPr lang="ro-RO" sz="1100" u="none" strike="noStrike">
                          <a:effectLst/>
                        </a:rPr>
                        <a:t> dintre doua sosiri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870777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10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45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4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604293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68679293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ro-RO" sz="1100" u="none" strike="noStrike">
                          <a:effectLst/>
                        </a:rPr>
                        <a:t>Valoare medie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4,5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8905602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ro-RO" sz="1100" u="none" strike="noStrike">
                          <a:effectLst/>
                        </a:rPr>
                        <a:t>Abatere Standard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o-RO" sz="1100" u="none" strike="noStrike">
                          <a:effectLst/>
                        </a:rPr>
                        <a:t>1,50</a:t>
                      </a:r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o-R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76052255"/>
                  </a:ext>
                </a:extLst>
              </a:tr>
            </a:tbl>
          </a:graphicData>
        </a:graphic>
      </p:graphicFrame>
      <p:sp>
        <p:nvSpPr>
          <p:cNvPr id="11" name="Săgeată: sus 10">
            <a:extLst>
              <a:ext uri="{FF2B5EF4-FFF2-40B4-BE49-F238E27FC236}">
                <a16:creationId xmlns:a16="http://schemas.microsoft.com/office/drawing/2014/main" id="{030F213B-6759-B758-D218-DD88E6280152}"/>
              </a:ext>
            </a:extLst>
          </p:cNvPr>
          <p:cNvSpPr/>
          <p:nvPr/>
        </p:nvSpPr>
        <p:spPr>
          <a:xfrm>
            <a:off x="5940152" y="4197776"/>
            <a:ext cx="46037" cy="62865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o-RO" sz="1100"/>
          </a:p>
        </p:txBody>
      </p:sp>
      <p:sp>
        <p:nvSpPr>
          <p:cNvPr id="12" name="Acoladă stânga 11">
            <a:extLst>
              <a:ext uri="{FF2B5EF4-FFF2-40B4-BE49-F238E27FC236}">
                <a16:creationId xmlns:a16="http://schemas.microsoft.com/office/drawing/2014/main" id="{2CF339FF-A86E-2056-8319-9BE1CB61C953}"/>
              </a:ext>
            </a:extLst>
          </p:cNvPr>
          <p:cNvSpPr/>
          <p:nvPr/>
        </p:nvSpPr>
        <p:spPr>
          <a:xfrm rot="16200000">
            <a:off x="5932488" y="4328330"/>
            <a:ext cx="387350" cy="1962150"/>
          </a:xfrm>
          <a:prstGeom prst="leftBrace">
            <a:avLst>
              <a:gd name="adj1" fmla="val 8333"/>
              <a:gd name="adj2" fmla="val 48529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o-RO" sz="1100"/>
          </a:p>
        </p:txBody>
      </p:sp>
    </p:spTree>
    <p:extLst>
      <p:ext uri="{BB962C8B-B14F-4D97-AF65-F5344CB8AC3E}">
        <p14:creationId xmlns:p14="http://schemas.microsoft.com/office/powerpoint/2010/main" val="3864982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332656"/>
            <a:ext cx="7067128" cy="1143000"/>
          </a:xfrm>
          <a:noFill/>
        </p:spPr>
        <p:txBody>
          <a:bodyPr>
            <a:noAutofit/>
          </a:bodyPr>
          <a:lstStyle/>
          <a:p>
            <a:r>
              <a:rPr lang="vi-VN" dirty="0"/>
              <a:t>Mărimi </a:t>
            </a:r>
            <a:r>
              <a:rPr lang="ro-RO" dirty="0">
                <a:latin typeface="Times New Roman" pitchFamily="18" charset="0"/>
                <a:cs typeface="Times New Roman" pitchFamily="18" charset="0"/>
              </a:rPr>
              <a:t>caracteristice</a:t>
            </a:r>
            <a:br>
              <a:rPr lang="ro-RO" dirty="0"/>
            </a:br>
            <a:r>
              <a:rPr lang="vi-VN" dirty="0"/>
              <a:t>procesul</a:t>
            </a:r>
            <a:r>
              <a:rPr lang="ro-RO" dirty="0"/>
              <a:t>ui</a:t>
            </a:r>
            <a:r>
              <a:rPr lang="vi-VN" dirty="0"/>
              <a:t> de sosire/servire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92D8-065A-4329-9380-D339E90B452F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442310" cy="1346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395536" y="1772816"/>
            <a:ext cx="8229600" cy="4525963"/>
          </a:xfrm>
        </p:spPr>
        <p:txBody>
          <a:bodyPr>
            <a:normAutofit/>
          </a:bodyPr>
          <a:lstStyle/>
          <a:p>
            <a:pPr algn="just">
              <a:buNone/>
            </a:pP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2361"/>
              </p:ext>
            </p:extLst>
          </p:nvPr>
        </p:nvGraphicFramePr>
        <p:xfrm>
          <a:off x="467544" y="1628800"/>
          <a:ext cx="82089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6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848">
                <a:tc>
                  <a:txBody>
                    <a:bodyPr/>
                    <a:lstStyle/>
                    <a:p>
                      <a:pPr algn="ctr"/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Parametru - valori medii</a:t>
                      </a:r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Notație</a:t>
                      </a:r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2400" i="1" noProof="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Frecvența de sosire a clienților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i="1" dirty="0">
                          <a:latin typeface="Times New Roman" pitchFamily="18" charset="0"/>
                          <a:cs typeface="Times New Roman" pitchFamily="18" charset="0"/>
                        </a:rPr>
                        <a:t>λ</a:t>
                      </a:r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ro-RO" sz="2400" i="1" noProof="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Timpul mediu de servire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ro-RO" sz="2400" i="1" noProof="0" dirty="0">
                          <a:latin typeface="Times New Roman" pitchFamily="18" charset="0"/>
                          <a:cs typeface="Times New Roman" pitchFamily="18" charset="0"/>
                        </a:rPr>
                        <a:t>Frecvența de servire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i="1" dirty="0">
                          <a:latin typeface="Times New Roman" pitchFamily="18" charset="0"/>
                          <a:cs typeface="Times New Roman" pitchFamily="18" charset="0"/>
                        </a:rPr>
                        <a:t>μ</a:t>
                      </a:r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=</a:t>
                      </a:r>
                      <a:r>
                        <a:rPr lang="ro-RO" sz="2400" i="1">
                          <a:latin typeface="Times New Roman" pitchFamily="18" charset="0"/>
                          <a:cs typeface="Times New Roman" pitchFamily="18" charset="0"/>
                        </a:rPr>
                        <a:t>1/s</a:t>
                      </a:r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ro-RO" sz="2400" i="1" noProof="0" dirty="0">
                          <a:latin typeface="Times New Roman" pitchFamily="18" charset="0"/>
                          <a:cs typeface="Times New Roman" pitchFamily="18" charset="0"/>
                        </a:rPr>
                        <a:t>Gradul de utilizare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400" i="1" dirty="0">
                          <a:latin typeface="Times New Roman" pitchFamily="18" charset="0"/>
                          <a:cs typeface="Times New Roman" pitchFamily="18" charset="0"/>
                        </a:rPr>
                        <a:t>ρ</a:t>
                      </a:r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=</a:t>
                      </a:r>
                      <a:r>
                        <a:rPr lang="el-GR" sz="2400" i="1" dirty="0">
                          <a:latin typeface="Times New Roman" pitchFamily="18" charset="0"/>
                          <a:cs typeface="Times New Roman" pitchFamily="18" charset="0"/>
                        </a:rPr>
                        <a:t>λ</a:t>
                      </a:r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/</a:t>
                      </a:r>
                      <a:r>
                        <a:rPr lang="el-GR" sz="2400" i="1" dirty="0">
                          <a:latin typeface="Times New Roman" pitchFamily="18" charset="0"/>
                          <a:cs typeface="Times New Roman" pitchFamily="18" charset="0"/>
                        </a:rPr>
                        <a:t>μ</a:t>
                      </a:r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ro-RO" sz="2400" i="1" noProof="0" dirty="0">
                          <a:latin typeface="Times New Roman" pitchFamily="18" charset="0"/>
                          <a:cs typeface="Times New Roman" pitchFamily="18" charset="0"/>
                        </a:rPr>
                        <a:t>Capacitatea de trecere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i="1" dirty="0">
                          <a:latin typeface="Times New Roman" pitchFamily="18" charset="0"/>
                          <a:cs typeface="Times New Roman" pitchFamily="18" charset="0"/>
                        </a:rPr>
                        <a:t>τ</a:t>
                      </a:r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ro-RO" sz="2400" i="1" noProof="0" dirty="0">
                          <a:latin typeface="Times New Roman" pitchFamily="18" charset="0"/>
                          <a:cs typeface="Times New Roman" pitchFamily="18" charset="0"/>
                        </a:rPr>
                        <a:t>Timpul mediu de așteptare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ro-RO" sz="2400" i="1" noProof="0">
                          <a:latin typeface="Times New Roman" pitchFamily="18" charset="0"/>
                          <a:cs typeface="Times New Roman" pitchFamily="18" charset="0"/>
                        </a:rPr>
                        <a:t>Timpul mediu de răspuns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ro-RO" sz="2400" i="1" noProof="0" dirty="0">
                          <a:latin typeface="Times New Roman" pitchFamily="18" charset="0"/>
                          <a:cs typeface="Times New Roman" pitchFamily="18" charset="0"/>
                        </a:rPr>
                        <a:t>Lungimea șirului de așteptare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Q=</a:t>
                      </a:r>
                      <a:r>
                        <a:rPr lang="el-GR" sz="2400" i="1" dirty="0">
                          <a:latin typeface="Times New Roman" pitchFamily="18" charset="0"/>
                          <a:cs typeface="Times New Roman" pitchFamily="18" charset="0"/>
                        </a:rPr>
                        <a:t>λ</a:t>
                      </a:r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Numărul mediu</a:t>
                      </a:r>
                      <a:r>
                        <a:rPr lang="ro-RO" sz="2400" i="1" baseline="0" dirty="0">
                          <a:latin typeface="Times New Roman" pitchFamily="18" charset="0"/>
                          <a:cs typeface="Times New Roman" pitchFamily="18" charset="0"/>
                        </a:rPr>
                        <a:t> de cereri din centrul de servire </a:t>
                      </a:r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N=</a:t>
                      </a:r>
                      <a:r>
                        <a:rPr lang="el-GR" sz="2400" i="1" dirty="0">
                          <a:latin typeface="Times New Roman" pitchFamily="18" charset="0"/>
                          <a:cs typeface="Times New Roman" pitchFamily="18" charset="0"/>
                        </a:rPr>
                        <a:t>λ</a:t>
                      </a:r>
                      <a:r>
                        <a:rPr lang="ro-RO" sz="2400" i="1" dirty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188640"/>
            <a:ext cx="7067128" cy="1143000"/>
          </a:xfrm>
          <a:noFill/>
        </p:spPr>
        <p:txBody>
          <a:bodyPr>
            <a:noAutofit/>
          </a:bodyPr>
          <a:lstStyle/>
          <a:p>
            <a:r>
              <a:rPr lang="en-GB" dirty="0" err="1"/>
              <a:t>Procesul</a:t>
            </a:r>
            <a:r>
              <a:rPr lang="en-GB" dirty="0"/>
              <a:t> de </a:t>
            </a:r>
            <a:r>
              <a:rPr lang="en-GB" dirty="0" err="1"/>
              <a:t>construire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a </a:t>
            </a:r>
            <a:r>
              <a:rPr lang="en-GB" dirty="0" err="1"/>
              <a:t>unui</a:t>
            </a:r>
            <a:r>
              <a:rPr lang="en-GB" dirty="0"/>
              <a:t> model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92D8-065A-4329-9380-D339E90B452F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442310" cy="1346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7544" y="1628801"/>
          <a:ext cx="7366740" cy="4989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8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3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8939">
                <a:tc>
                  <a:txBody>
                    <a:bodyPr/>
                    <a:lstStyle/>
                    <a:p>
                      <a:pPr algn="ctr"/>
                      <a:r>
                        <a:rPr lang="en-GB" sz="1600" i="1" dirty="0" err="1">
                          <a:latin typeface="Times New Roman" pitchFamily="18" charset="0"/>
                          <a:cs typeface="Times New Roman" pitchFamily="18" charset="0"/>
                        </a:rPr>
                        <a:t>Parametri</a:t>
                      </a:r>
                      <a:r>
                        <a:rPr lang="en-GB" sz="1600" i="1" baseline="0" dirty="0">
                          <a:latin typeface="Times New Roman" pitchFamily="18" charset="0"/>
                          <a:cs typeface="Times New Roman" pitchFamily="18" charset="0"/>
                        </a:rPr>
                        <a:t> m</a:t>
                      </a:r>
                      <a:r>
                        <a:rPr lang="ro-RO" sz="1600" i="1" baseline="0" dirty="0" err="1">
                          <a:latin typeface="Times New Roman" pitchFamily="18" charset="0"/>
                          <a:cs typeface="Times New Roman" pitchFamily="18" charset="0"/>
                        </a:rPr>
                        <a:t>ăsurați</a:t>
                      </a:r>
                      <a:r>
                        <a:rPr lang="ro-RO" sz="1600" i="1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ro-RO" sz="1600" i="1" baseline="0" dirty="0">
                          <a:latin typeface="Times New Roman" pitchFamily="18" charset="0"/>
                          <a:cs typeface="Times New Roman" pitchFamily="18" charset="0"/>
                        </a:rPr>
                        <a:t>pe sistemul real</a:t>
                      </a:r>
                      <a:endParaRPr lang="en-GB" sz="16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i="1" dirty="0">
                          <a:latin typeface="Times New Roman" pitchFamily="18" charset="0"/>
                          <a:cs typeface="Times New Roman" pitchFamily="18" charset="0"/>
                        </a:rPr>
                        <a:t>Simbol</a:t>
                      </a:r>
                      <a:endParaRPr lang="en-GB" sz="16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i="1" dirty="0">
                          <a:latin typeface="Times New Roman" pitchFamily="18" charset="0"/>
                          <a:cs typeface="Times New Roman" pitchFamily="18" charset="0"/>
                        </a:rPr>
                        <a:t>Parametri</a:t>
                      </a:r>
                    </a:p>
                    <a:p>
                      <a:pPr algn="ctr"/>
                      <a:r>
                        <a:rPr lang="ro-RO" sz="1600" i="1" dirty="0">
                          <a:latin typeface="Times New Roman" pitchFamily="18" charset="0"/>
                          <a:cs typeface="Times New Roman" pitchFamily="18" charset="0"/>
                        </a:rPr>
                        <a:t> utilizați</a:t>
                      </a:r>
                    </a:p>
                    <a:p>
                      <a:pPr algn="ctr"/>
                      <a:r>
                        <a:rPr lang="ro-RO" sz="1600" i="1" dirty="0">
                          <a:latin typeface="Times New Roman" pitchFamily="18" charset="0"/>
                          <a:cs typeface="Times New Roman" pitchFamily="18" charset="0"/>
                        </a:rPr>
                        <a:t>în model</a:t>
                      </a:r>
                      <a:endParaRPr lang="en-GB" sz="16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i="1" dirty="0">
                          <a:latin typeface="Times New Roman" pitchFamily="18" charset="0"/>
                          <a:cs typeface="Times New Roman" pitchFamily="18" charset="0"/>
                        </a:rPr>
                        <a:t>Parametri</a:t>
                      </a:r>
                    </a:p>
                    <a:p>
                      <a:pPr algn="ctr"/>
                      <a:r>
                        <a:rPr lang="ro-RO" sz="1600" i="1" dirty="0">
                          <a:latin typeface="Times New Roman" pitchFamily="18" charset="0"/>
                          <a:cs typeface="Times New Roman" pitchFamily="18" charset="0"/>
                        </a:rPr>
                        <a:t>Rezultați din simulare</a:t>
                      </a:r>
                      <a:endParaRPr lang="en-GB" sz="16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9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noProof="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Frecvența de sosire a clienților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800" b="1" i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λ</a:t>
                      </a:r>
                      <a:endParaRPr lang="en-GB" sz="18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800" b="1" i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λ</a:t>
                      </a:r>
                      <a:endParaRPr lang="en-GB" sz="18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800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861">
                <a:tc>
                  <a:txBody>
                    <a:bodyPr/>
                    <a:lstStyle/>
                    <a:p>
                      <a:r>
                        <a:rPr lang="ro-RO" sz="1800" i="1" noProof="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Timpul mediu de servire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b="1" i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endParaRPr lang="en-GB" sz="18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b="1" i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endParaRPr lang="en-GB" sz="18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800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780">
                <a:tc>
                  <a:txBody>
                    <a:bodyPr/>
                    <a:lstStyle/>
                    <a:p>
                      <a:r>
                        <a:rPr lang="ro-RO" sz="1800" i="1" noProof="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Frecvența de servire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b="1" i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μ</a:t>
                      </a:r>
                      <a:endParaRPr lang="en-GB" sz="18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b="1" i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μ</a:t>
                      </a:r>
                      <a:endParaRPr lang="en-GB" sz="18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800" i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861">
                <a:tc>
                  <a:txBody>
                    <a:bodyPr/>
                    <a:lstStyle/>
                    <a:p>
                      <a:r>
                        <a:rPr lang="ro-RO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Gradul de utilizare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800" i="1" dirty="0">
                          <a:latin typeface="Times New Roman" pitchFamily="18" charset="0"/>
                          <a:cs typeface="Times New Roman" pitchFamily="18" charset="0"/>
                        </a:rPr>
                        <a:t>ρ</a:t>
                      </a:r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ρ</a:t>
                      </a:r>
                      <a:endParaRPr lang="en-GB" sz="1800" i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861">
                <a:tc>
                  <a:txBody>
                    <a:bodyPr/>
                    <a:lstStyle/>
                    <a:p>
                      <a:r>
                        <a:rPr lang="ro-RO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Capacitatea de trecere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800" i="1" dirty="0">
                          <a:latin typeface="Times New Roman" pitchFamily="18" charset="0"/>
                          <a:cs typeface="Times New Roman" pitchFamily="18" charset="0"/>
                        </a:rPr>
                        <a:t>τ</a:t>
                      </a:r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τ</a:t>
                      </a:r>
                      <a:endParaRPr lang="en-GB" sz="1800" i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861">
                <a:tc>
                  <a:txBody>
                    <a:bodyPr/>
                    <a:lstStyle/>
                    <a:p>
                      <a:r>
                        <a:rPr lang="ro-RO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Timpul mediu de așteptare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i="1" dirty="0"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endParaRPr lang="en-GB" sz="1800" i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861">
                <a:tc>
                  <a:txBody>
                    <a:bodyPr/>
                    <a:lstStyle/>
                    <a:p>
                      <a:r>
                        <a:rPr lang="ro-RO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Timpul mediu de răspuns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i="1" dirty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en-GB" sz="1800" i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861">
                <a:tc>
                  <a:txBody>
                    <a:bodyPr/>
                    <a:lstStyle/>
                    <a:p>
                      <a:r>
                        <a:rPr lang="ro-RO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Lungimea șirului de așteptare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i="1" dirty="0"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lang="en-GB" sz="1800" i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8939">
                <a:tc>
                  <a:txBody>
                    <a:bodyPr/>
                    <a:lstStyle/>
                    <a:p>
                      <a:r>
                        <a:rPr lang="ro-RO" sz="1800" i="1" dirty="0">
                          <a:latin typeface="Times New Roman" pitchFamily="18" charset="0"/>
                          <a:cs typeface="Times New Roman" pitchFamily="18" charset="0"/>
                        </a:rPr>
                        <a:t>Numărul mediu</a:t>
                      </a:r>
                      <a:r>
                        <a:rPr lang="ro-RO" sz="1800" i="1" baseline="0" dirty="0">
                          <a:latin typeface="Times New Roman" pitchFamily="18" charset="0"/>
                          <a:cs typeface="Times New Roman" pitchFamily="18" charset="0"/>
                        </a:rPr>
                        <a:t> de cereri din</a:t>
                      </a:r>
                    </a:p>
                    <a:p>
                      <a:r>
                        <a:rPr lang="ro-RO" sz="1800" i="1" baseline="0" dirty="0">
                          <a:latin typeface="Times New Roman" pitchFamily="18" charset="0"/>
                          <a:cs typeface="Times New Roman" pitchFamily="18" charset="0"/>
                        </a:rPr>
                        <a:t> centrul de servire </a:t>
                      </a:r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i="1" dirty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en-GB" sz="1800" i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Right Arrow 10"/>
          <p:cNvSpPr/>
          <p:nvPr/>
        </p:nvSpPr>
        <p:spPr>
          <a:xfrm>
            <a:off x="4716016" y="3356992"/>
            <a:ext cx="792088" cy="144016"/>
          </a:xfrm>
          <a:prstGeom prst="rightArrow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Brace 11"/>
          <p:cNvSpPr/>
          <p:nvPr/>
        </p:nvSpPr>
        <p:spPr>
          <a:xfrm>
            <a:off x="4427984" y="2852936"/>
            <a:ext cx="216024" cy="1152128"/>
          </a:xfrm>
          <a:prstGeom prst="rightBrac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Left Brace 12"/>
          <p:cNvSpPr/>
          <p:nvPr/>
        </p:nvSpPr>
        <p:spPr>
          <a:xfrm>
            <a:off x="5580112" y="2780928"/>
            <a:ext cx="144016" cy="122413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Left-Right Arrow 13"/>
          <p:cNvSpPr/>
          <p:nvPr/>
        </p:nvSpPr>
        <p:spPr>
          <a:xfrm>
            <a:off x="5004048" y="5085184"/>
            <a:ext cx="1872208" cy="2880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/>
          <p:cNvSpPr/>
          <p:nvPr/>
        </p:nvSpPr>
        <p:spPr>
          <a:xfrm>
            <a:off x="4644008" y="4221088"/>
            <a:ext cx="216024" cy="2160240"/>
          </a:xfrm>
          <a:prstGeom prst="rightBrac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Left Brace 15"/>
          <p:cNvSpPr/>
          <p:nvPr/>
        </p:nvSpPr>
        <p:spPr>
          <a:xfrm>
            <a:off x="6948264" y="4221088"/>
            <a:ext cx="288032" cy="208823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5220072" y="558924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accent1">
                    <a:lumMod val="75000"/>
                  </a:schemeClr>
                </a:solidFill>
              </a:rPr>
              <a:t>SE COMPARĂ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188640"/>
            <a:ext cx="7067128" cy="1143000"/>
          </a:xfrm>
          <a:noFill/>
        </p:spPr>
        <p:txBody>
          <a:bodyPr>
            <a:noAutofit/>
          </a:bodyPr>
          <a:lstStyle/>
          <a:p>
            <a:r>
              <a:rPr lang="en-GB" dirty="0" err="1"/>
              <a:t>Procesul</a:t>
            </a:r>
            <a:r>
              <a:rPr lang="en-GB" dirty="0"/>
              <a:t> de </a:t>
            </a:r>
            <a:r>
              <a:rPr lang="en-GB" dirty="0" err="1"/>
              <a:t>validare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a </a:t>
            </a:r>
            <a:r>
              <a:rPr lang="en-GB" dirty="0" err="1"/>
              <a:t>unui</a:t>
            </a:r>
            <a:r>
              <a:rPr lang="en-GB" dirty="0"/>
              <a:t> model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92D8-065A-4329-9380-D339E90B452F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442310" cy="1346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7544" y="1628801"/>
          <a:ext cx="6574652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4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615">
                <a:tc>
                  <a:txBody>
                    <a:bodyPr/>
                    <a:lstStyle/>
                    <a:p>
                      <a:pPr algn="ctr"/>
                      <a:r>
                        <a:rPr lang="en-GB" sz="1600" i="1" dirty="0" err="1">
                          <a:latin typeface="Times New Roman" pitchFamily="18" charset="0"/>
                          <a:cs typeface="Times New Roman" pitchFamily="18" charset="0"/>
                        </a:rPr>
                        <a:t>Parametri</a:t>
                      </a:r>
                      <a:r>
                        <a:rPr lang="en-GB" sz="1600" i="1" baseline="0" dirty="0">
                          <a:latin typeface="Times New Roman" pitchFamily="18" charset="0"/>
                          <a:cs typeface="Times New Roman" pitchFamily="18" charset="0"/>
                        </a:rPr>
                        <a:t> m</a:t>
                      </a:r>
                      <a:r>
                        <a:rPr lang="ro-RO" sz="1600" i="1" baseline="0" dirty="0" err="1">
                          <a:latin typeface="Times New Roman" pitchFamily="18" charset="0"/>
                          <a:cs typeface="Times New Roman" pitchFamily="18" charset="0"/>
                        </a:rPr>
                        <a:t>ăsurați</a:t>
                      </a:r>
                      <a:r>
                        <a:rPr lang="ro-RO" sz="1600" i="1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ro-RO" sz="1600" i="1" baseline="0" dirty="0">
                          <a:latin typeface="Times New Roman" pitchFamily="18" charset="0"/>
                          <a:cs typeface="Times New Roman" pitchFamily="18" charset="0"/>
                        </a:rPr>
                        <a:t>pe sistemul real</a:t>
                      </a:r>
                      <a:endParaRPr lang="en-GB" sz="16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i="1" dirty="0">
                          <a:latin typeface="Times New Roman" pitchFamily="18" charset="0"/>
                          <a:cs typeface="Times New Roman" pitchFamily="18" charset="0"/>
                        </a:rPr>
                        <a:t>Parametri</a:t>
                      </a:r>
                    </a:p>
                    <a:p>
                      <a:pPr algn="ctr"/>
                      <a:r>
                        <a:rPr lang="ro-RO" sz="1600" i="1" dirty="0">
                          <a:latin typeface="Times New Roman" pitchFamily="18" charset="0"/>
                          <a:cs typeface="Times New Roman" pitchFamily="18" charset="0"/>
                        </a:rPr>
                        <a:t>Rezultați din simulare</a:t>
                      </a:r>
                      <a:endParaRPr lang="en-GB" sz="16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i="1" dirty="0">
                          <a:latin typeface="Times New Roman" pitchFamily="18" charset="0"/>
                          <a:cs typeface="Times New Roman" pitchFamily="18" charset="0"/>
                        </a:rPr>
                        <a:t>Decizie</a:t>
                      </a:r>
                      <a:endParaRPr lang="en-GB" sz="16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3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Gradul de utilizare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8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800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192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latin typeface="Times New Roman" pitchFamily="18" charset="0"/>
                          <a:cs typeface="Times New Roman" pitchFamily="18" charset="0"/>
                        </a:rPr>
                        <a:t>Valoare</a:t>
                      </a:r>
                      <a:r>
                        <a:rPr lang="ro-RO" sz="1800" i="1" baseline="0" noProof="0" dirty="0">
                          <a:latin typeface="Times New Roman" pitchFamily="18" charset="0"/>
                          <a:cs typeface="Times New Roman" pitchFamily="18" charset="0"/>
                        </a:rPr>
                        <a:t> medie</a:t>
                      </a:r>
                      <a:endParaRPr lang="ro-RO" sz="1800" i="1" noProof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ρ</a:t>
                      </a:r>
                      <a:endParaRPr lang="en-GB" sz="1800" i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1" i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DA </a:t>
                      </a:r>
                      <a:r>
                        <a:rPr lang="ro-RO" sz="18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Aparține la intervalul</a:t>
                      </a:r>
                      <a:r>
                        <a:rPr lang="ro-RO" sz="1800" b="1" i="1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1800" b="1" i="1" baseline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lang="ro-RO" sz="1800" b="1" i="1" baseline="0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ăsurat</a:t>
                      </a:r>
                      <a:endParaRPr lang="ro-RO" sz="1800" b="1" i="1" baseline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lang="el-GR" sz="2000" i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ρ</a:t>
                      </a:r>
                      <a:r>
                        <a:rPr lang="ro-RO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l-GR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σ</a:t>
                      </a:r>
                      <a:r>
                        <a:rPr lang="ro-RO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i="1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l-GR" sz="2000" i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ρ</a:t>
                      </a:r>
                      <a:r>
                        <a:rPr lang="en-US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lang="el-GR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σ</a:t>
                      </a:r>
                      <a:r>
                        <a:rPr lang="ro-RO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]</a:t>
                      </a:r>
                      <a:endParaRPr lang="en-GB" sz="2000" i="0" dirty="0">
                        <a:solidFill>
                          <a:srgbClr val="FF0066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GB" sz="1800" i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</a:p>
                    <a:p>
                      <a:pPr algn="ctr"/>
                      <a:r>
                        <a:rPr lang="ro-RO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corect</a:t>
                      </a:r>
                      <a:endParaRPr lang="en-GB" sz="1800" i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48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l-GR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σ</a:t>
                      </a:r>
                      <a:r>
                        <a:rPr lang="ro-RO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     </a:t>
                      </a:r>
                      <a:r>
                        <a:rPr lang="ro-RO" sz="1800" i="1" baseline="0" noProof="0" dirty="0"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ro-RO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             </a:t>
                      </a:r>
                      <a:r>
                        <a:rPr lang="el-GR" sz="1800" i="1" dirty="0">
                          <a:latin typeface="Times New Roman" pitchFamily="18" charset="0"/>
                          <a:cs typeface="Times New Roman" pitchFamily="18" charset="0"/>
                        </a:rPr>
                        <a:t>ρ</a:t>
                      </a:r>
                      <a:r>
                        <a:rPr lang="ro-RO" sz="1800" i="1" dirty="0"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ro-RO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            +</a:t>
                      </a:r>
                      <a:r>
                        <a:rPr lang="el-GR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σ</a:t>
                      </a:r>
                      <a:endParaRPr lang="ro-RO" sz="1800" i="1" noProof="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noProof="0" dirty="0">
                          <a:latin typeface="Times New Roman" pitchFamily="18" charset="0"/>
                          <a:cs typeface="Times New Roman" pitchFamily="18" charset="0"/>
                        </a:rPr>
                        <a:t>Dispersie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ro-RO" sz="1800" i="1" noProof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ρ</a:t>
                      </a:r>
                      <a:endParaRPr lang="en-GB" sz="1800" i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1" i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NU </a:t>
                      </a:r>
                      <a:r>
                        <a:rPr lang="ro-RO" sz="18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Aparține la intervalul</a:t>
                      </a:r>
                      <a:r>
                        <a:rPr lang="ro-RO" sz="1800" b="1" i="1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1800" b="1" i="1" baseline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lang="ro-RO" sz="1800" b="1" i="1" baseline="0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ăsurat</a:t>
                      </a:r>
                      <a:endParaRPr lang="ro-RO" sz="1800" b="1" i="1" baseline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lang="el-GR" sz="2000" i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ρ</a:t>
                      </a:r>
                      <a:r>
                        <a:rPr lang="ro-RO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l-GR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σ</a:t>
                      </a:r>
                      <a:r>
                        <a:rPr lang="ro-RO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i="1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l-GR" sz="2000" i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ρ</a:t>
                      </a:r>
                      <a:r>
                        <a:rPr lang="en-US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lang="el-GR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σ</a:t>
                      </a:r>
                      <a:r>
                        <a:rPr lang="ro-RO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i="0" noProof="0" dirty="0">
                          <a:solidFill>
                            <a:srgbClr val="FF0066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]</a:t>
                      </a:r>
                      <a:endParaRPr lang="en-GB" sz="2000" i="0" dirty="0">
                        <a:solidFill>
                          <a:srgbClr val="FF0066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 </a:t>
                      </a:r>
                    </a:p>
                    <a:p>
                      <a:pPr algn="ctr"/>
                      <a:r>
                        <a:rPr lang="ro-RO" sz="1800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incorect</a:t>
                      </a:r>
                      <a:endParaRPr lang="en-GB" sz="1800" i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9" name="Straight Connector 18"/>
          <p:cNvCxnSpPr/>
          <p:nvPr/>
        </p:nvCxnSpPr>
        <p:spPr>
          <a:xfrm>
            <a:off x="755576" y="4365104"/>
            <a:ext cx="23762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1979712" y="3717032"/>
            <a:ext cx="0" cy="57606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2339752" y="4581128"/>
            <a:ext cx="648072" cy="36004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899592" y="4509120"/>
            <a:ext cx="576064" cy="50405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83568" y="4221088"/>
            <a:ext cx="0" cy="36004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203848" y="4221088"/>
            <a:ext cx="0" cy="36004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ACAA-4A4B-40A1-A101-59C41CE994D8}" type="datetime1">
              <a:rPr lang="en-GB" smtClean="0"/>
              <a:pPr/>
              <a:t>20/11/2025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81B2-1D32-4AB5-AA59-519EF5014974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1442310" cy="1346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667000" y="2895600"/>
            <a:ext cx="36988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ro-RO" sz="5400" i="1">
                <a:solidFill>
                  <a:schemeClr val="tx2"/>
                </a:solidFill>
                <a:latin typeface="Times New Roman" pitchFamily="18" charset="0"/>
              </a:rPr>
              <a:t>Î</a:t>
            </a:r>
            <a:r>
              <a:rPr lang="en-US" sz="5400" i="1">
                <a:solidFill>
                  <a:schemeClr val="tx2"/>
                </a:solidFill>
                <a:latin typeface="Times New Roman" pitchFamily="18" charset="0"/>
              </a:rPr>
              <a:t>ntreb</a:t>
            </a:r>
            <a:r>
              <a:rPr lang="ro-RO" sz="5400" i="1">
                <a:solidFill>
                  <a:schemeClr val="tx2"/>
                </a:solidFill>
                <a:latin typeface="Times New Roman" pitchFamily="18" charset="0"/>
              </a:rPr>
              <a:t>ă</a:t>
            </a:r>
            <a:r>
              <a:rPr lang="en-US" sz="5400" i="1">
                <a:solidFill>
                  <a:schemeClr val="tx2"/>
                </a:solidFill>
                <a:latin typeface="Times New Roman" pitchFamily="18" charset="0"/>
              </a:rPr>
              <a:t>ri</a:t>
            </a:r>
            <a:r>
              <a:rPr lang="en-US" sz="5400" i="1">
                <a:latin typeface="Times New Roman" pitchFamily="18" charset="0"/>
              </a:rPr>
              <a:t>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583</Words>
  <Application>Microsoft Office PowerPoint</Application>
  <PresentationFormat>On-screen Show (4:3)</PresentationFormat>
  <Paragraphs>174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Elemente de bază în modelarea sistemelor cu şiruri de aşteptare CONCEPTE</vt:lpstr>
      <vt:lpstr>      Sistemul Modelat</vt:lpstr>
      <vt:lpstr>Arhitectura unui model  cu șiruri de așteptare</vt:lpstr>
      <vt:lpstr>Arhitectura unui model  cu șiruri de așteptare</vt:lpstr>
      <vt:lpstr>Structura  unui nod a grafului</vt:lpstr>
      <vt:lpstr>Atributele  unui model  cu șiruri de așteptare</vt:lpstr>
      <vt:lpstr>Atributele  unui model  cu șiruri de așteptare</vt:lpstr>
      <vt:lpstr>Mărimi caracteristice procesului de sosire/servire</vt:lpstr>
      <vt:lpstr>Procesul de construire  a unui model</vt:lpstr>
      <vt:lpstr>Procesul de validare  a unui model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MODELARE  si  SIMULARE</dc:title>
  <dc:creator>Stefan</dc:creator>
  <cp:lastModifiedBy>Holban Stefan</cp:lastModifiedBy>
  <cp:revision>120</cp:revision>
  <dcterms:created xsi:type="dcterms:W3CDTF">2015-10-05T14:06:57Z</dcterms:created>
  <dcterms:modified xsi:type="dcterms:W3CDTF">2025-11-20T08:17:36Z</dcterms:modified>
</cp:coreProperties>
</file>
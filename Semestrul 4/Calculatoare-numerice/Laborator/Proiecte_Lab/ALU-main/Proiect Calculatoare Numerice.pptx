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6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DAD6B-3862-429F-8A5F-1F261CEEDEAF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EAD23-AC42-4DC4-AF21-9B4F1B8662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383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1D1EADE-8E88-4C7C-8AC5-FB148DE4940E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853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84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809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15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4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8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76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82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31BA835-12AC-4E8F-955A-EA3F4DE2791F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82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F0C91-670C-0351-6CEA-A619C92A6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400"/>
            <a:ext cx="7633667" cy="18386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Calculatoare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7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8-bit ALU Simulation</a:t>
            </a:r>
            <a:br>
              <a:rPr lang="en-GB" sz="11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7AD002-A6C7-06F9-D288-6EC66DB43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3908808"/>
            <a:ext cx="3799763" cy="2246119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Realizat</a:t>
            </a:r>
            <a:r>
              <a:rPr lang="en-US" dirty="0"/>
              <a:t> de: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Ciobanu Daria Andreea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Doca</a:t>
            </a:r>
            <a:r>
              <a:rPr lang="en-US" dirty="0"/>
              <a:t> Andrei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Calin Radu Andrei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Mergea Mihai Raul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96E852-7F2A-447B-D250-383FB9D3A2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47" r="11257" b="-1"/>
          <a:stretch/>
        </p:blipFill>
        <p:spPr>
          <a:xfrm>
            <a:off x="7954297" y="714458"/>
            <a:ext cx="3503891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467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9271C28-7496-4447-8541-7B39F5E94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DCF0B-F0B2-C6E2-9EF3-D87FB3A2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>
            <a:normAutofit/>
          </a:bodyPr>
          <a:lstStyle/>
          <a:p>
            <a:r>
              <a:rPr lang="en-GB"/>
              <a:t>Ce este un Alu?</a:t>
            </a:r>
          </a:p>
        </p:txBody>
      </p:sp>
      <p:pic>
        <p:nvPicPr>
          <p:cNvPr id="1026" name="Picture 2" descr="Unitate aritmetică-logică - Wikipedia">
            <a:extLst>
              <a:ext uri="{FF2B5EF4-FFF2-40B4-BE49-F238E27FC236}">
                <a16:creationId xmlns:a16="http://schemas.microsoft.com/office/drawing/2014/main" id="{93956027-0909-9DE7-64AC-410C6EA07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2160910"/>
            <a:ext cx="4593715" cy="253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017E6-0AE6-6D35-5899-EC44A30DC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6703" y="2057400"/>
            <a:ext cx="5364444" cy="4038600"/>
          </a:xfrm>
        </p:spPr>
        <p:txBody>
          <a:bodyPr>
            <a:normAutofit/>
          </a:bodyPr>
          <a:lstStyle/>
          <a:p>
            <a:r>
              <a:rPr lang="en-GB"/>
              <a:t>ALU (Unitate Aritmetică și Logică) este o componentă fundamentală a unui procesor, responsabilă cu executarea operațiilor aritmetice (precum adunare, scădere, înmulțire și împărțire) și logice (precum AND, OR, XOR, NOT) asupra datelor binare.Este esențială pentru procesarea instrucțiunilor într-un sistem digital, contribuind direct la calculul valorilor numerice și la luarea deciziilor logice.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10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3BE4EB-A337-6F8E-4986-422F9F85B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Arhitectură Modulară — Decizie de Proiectare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EEA00-AC7F-023E-7B3A-15B913793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r>
              <a:rPr lang="en-GB" sz="2000">
                <a:solidFill>
                  <a:schemeClr val="tx1"/>
                </a:solidFill>
              </a:rPr>
              <a:t>Pentru implementarea ALU-ului, am adoptat o arhitectură modulară, în care fiecare operație (adunare, scădere, înmulțire și împărțire) este implementată într-un modul separat.Această abordare aduce următoarele beneficii:Claritate în cod și structură logică.Reutilizare și testare ușoară a fiecărui modul.Posibilitatea de a optimize independent fiecare operație (ex. Booth pentru multiplicare, SRT pentru divizare).Rezultatul final este selectat pe baza unui semnal de control (op_code) folosind un multiplexor la ieșirea ALU-ului.</a:t>
            </a:r>
          </a:p>
        </p:txBody>
      </p:sp>
    </p:spTree>
    <p:extLst>
      <p:ext uri="{BB962C8B-B14F-4D97-AF65-F5344CB8AC3E}">
        <p14:creationId xmlns:p14="http://schemas.microsoft.com/office/powerpoint/2010/main" val="616180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41528-2730-28E8-315B-4072DE280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Adunare</a:t>
            </a:r>
            <a:r>
              <a:rPr lang="en-GB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Ripple Carry Adder (RCA)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53482-1D66-24EE-8454-DAABC4263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r>
              <a:rPr lang="en-GB" sz="2000" dirty="0" err="1">
                <a:solidFill>
                  <a:schemeClr val="tx1"/>
                </a:solidFill>
              </a:rPr>
              <a:t>Adunarea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este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implementată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folosind</a:t>
            </a:r>
            <a:r>
              <a:rPr lang="en-GB" sz="2000" dirty="0">
                <a:solidFill>
                  <a:schemeClr val="tx1"/>
                </a:solidFill>
              </a:rPr>
              <a:t> o </a:t>
            </a:r>
            <a:r>
              <a:rPr lang="en-GB" sz="2000" dirty="0" err="1">
                <a:solidFill>
                  <a:schemeClr val="tx1"/>
                </a:solidFill>
              </a:rPr>
              <a:t>structură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modulară</a:t>
            </a:r>
            <a:r>
              <a:rPr lang="en-GB" sz="2000" dirty="0">
                <a:solidFill>
                  <a:schemeClr val="tx1"/>
                </a:solidFill>
              </a:rPr>
              <a:t> de tip Ripple Carry Adder. </a:t>
            </a:r>
            <a:r>
              <a:rPr lang="en-GB" sz="2000" dirty="0" err="1">
                <a:solidFill>
                  <a:schemeClr val="tx1"/>
                </a:solidFill>
              </a:rPr>
              <a:t>Fiecare</a:t>
            </a:r>
            <a:r>
              <a:rPr lang="en-GB" sz="2000" dirty="0">
                <a:solidFill>
                  <a:schemeClr val="tx1"/>
                </a:solidFill>
              </a:rPr>
              <a:t> bit </a:t>
            </a:r>
            <a:r>
              <a:rPr lang="en-GB" sz="2000" dirty="0" err="1">
                <a:solidFill>
                  <a:schemeClr val="tx1"/>
                </a:solidFill>
              </a:rPr>
              <a:t>este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procesat</a:t>
            </a:r>
            <a:r>
              <a:rPr lang="en-GB" sz="2000" dirty="0">
                <a:solidFill>
                  <a:schemeClr val="tx1"/>
                </a:solidFill>
              </a:rPr>
              <a:t> de un full adder (</a:t>
            </a:r>
            <a:r>
              <a:rPr lang="en-GB" sz="2000" dirty="0" err="1">
                <a:solidFill>
                  <a:schemeClr val="tx1"/>
                </a:solidFill>
              </a:rPr>
              <a:t>fac</a:t>
            </a:r>
            <a:r>
              <a:rPr lang="en-GB" sz="2000" dirty="0">
                <a:solidFill>
                  <a:schemeClr val="tx1"/>
                </a:solidFill>
              </a:rPr>
              <a:t>), </a:t>
            </a:r>
            <a:r>
              <a:rPr lang="en-GB" sz="2000" dirty="0" err="1">
                <a:solidFill>
                  <a:schemeClr val="tx1"/>
                </a:solidFill>
              </a:rPr>
              <a:t>conectat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în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serie</a:t>
            </a:r>
            <a:r>
              <a:rPr lang="en-GB" sz="2000" dirty="0">
                <a:solidFill>
                  <a:schemeClr val="tx1"/>
                </a:solidFill>
              </a:rPr>
              <a:t> — carry-</a:t>
            </a:r>
            <a:r>
              <a:rPr lang="en-GB" sz="2000" dirty="0" err="1">
                <a:solidFill>
                  <a:schemeClr val="tx1"/>
                </a:solidFill>
              </a:rPr>
              <a:t>ul</a:t>
            </a:r>
            <a:r>
              <a:rPr lang="en-GB" sz="2000" dirty="0">
                <a:solidFill>
                  <a:schemeClr val="tx1"/>
                </a:solidFill>
              </a:rPr>
              <a:t> de la un bit se </a:t>
            </a:r>
            <a:r>
              <a:rPr lang="en-GB" sz="2000" dirty="0" err="1">
                <a:solidFill>
                  <a:schemeClr val="tx1"/>
                </a:solidFill>
              </a:rPr>
              <a:t>propagă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spre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următorul.Modulul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este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parametrizat</a:t>
            </a:r>
            <a:r>
              <a:rPr lang="en-GB" sz="2000" dirty="0">
                <a:solidFill>
                  <a:schemeClr val="tx1"/>
                </a:solidFill>
              </a:rPr>
              <a:t> (WIDTH) </a:t>
            </a:r>
            <a:r>
              <a:rPr lang="en-GB" sz="2000" dirty="0" err="1">
                <a:solidFill>
                  <a:schemeClr val="tx1"/>
                </a:solidFill>
              </a:rPr>
              <a:t>pentru</a:t>
            </a:r>
            <a:r>
              <a:rPr lang="en-GB" sz="2000" dirty="0">
                <a:solidFill>
                  <a:schemeClr val="tx1"/>
                </a:solidFill>
              </a:rPr>
              <a:t> a </a:t>
            </a:r>
            <a:r>
              <a:rPr lang="en-GB" sz="2000" dirty="0" err="1">
                <a:solidFill>
                  <a:schemeClr val="tx1"/>
                </a:solidFill>
              </a:rPr>
              <a:t>permite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scalabilitate.Suportă</a:t>
            </a:r>
            <a:r>
              <a:rPr lang="en-GB" sz="2000" dirty="0">
                <a:solidFill>
                  <a:schemeClr val="tx1"/>
                </a:solidFill>
              </a:rPr>
              <a:t> un </a:t>
            </a:r>
            <a:r>
              <a:rPr lang="en-GB" sz="2000" dirty="0" err="1">
                <a:solidFill>
                  <a:schemeClr val="tx1"/>
                </a:solidFill>
              </a:rPr>
              <a:t>semnal</a:t>
            </a:r>
            <a:r>
              <a:rPr lang="en-GB" sz="2000" dirty="0">
                <a:solidFill>
                  <a:schemeClr val="tx1"/>
                </a:solidFill>
              </a:rPr>
              <a:t> de carry-in (</a:t>
            </a:r>
            <a:r>
              <a:rPr lang="en-GB" sz="2000" dirty="0" err="1">
                <a:solidFill>
                  <a:schemeClr val="tx1"/>
                </a:solidFill>
              </a:rPr>
              <a:t>cin</a:t>
            </a:r>
            <a:r>
              <a:rPr lang="en-GB" sz="2000" dirty="0">
                <a:solidFill>
                  <a:schemeClr val="tx1"/>
                </a:solidFill>
              </a:rPr>
              <a:t>) </a:t>
            </a:r>
            <a:r>
              <a:rPr lang="en-GB" sz="2000" dirty="0" err="1">
                <a:solidFill>
                  <a:schemeClr val="tx1"/>
                </a:solidFill>
              </a:rPr>
              <a:t>și</a:t>
            </a:r>
            <a:r>
              <a:rPr lang="en-GB" sz="2000" dirty="0">
                <a:solidFill>
                  <a:schemeClr val="tx1"/>
                </a:solidFill>
              </a:rPr>
              <a:t> un enable (</a:t>
            </a:r>
            <a:r>
              <a:rPr lang="en-GB" sz="2000" dirty="0" err="1">
                <a:solidFill>
                  <a:schemeClr val="tx1"/>
                </a:solidFill>
              </a:rPr>
              <a:t>en</a:t>
            </a:r>
            <a:r>
              <a:rPr lang="en-GB" sz="2000" dirty="0">
                <a:solidFill>
                  <a:schemeClr val="tx1"/>
                </a:solidFill>
              </a:rPr>
              <a:t>), care </a:t>
            </a:r>
            <a:r>
              <a:rPr lang="en-GB" sz="2000" dirty="0" err="1">
                <a:solidFill>
                  <a:schemeClr val="tx1"/>
                </a:solidFill>
              </a:rPr>
              <a:t>permite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activarea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controlată</a:t>
            </a:r>
            <a:r>
              <a:rPr lang="en-GB" sz="2000" dirty="0">
                <a:solidFill>
                  <a:schemeClr val="tx1"/>
                </a:solidFill>
              </a:rPr>
              <a:t> a </a:t>
            </a:r>
            <a:r>
              <a:rPr lang="en-GB" sz="2000" dirty="0" err="1">
                <a:solidFill>
                  <a:schemeClr val="tx1"/>
                </a:solidFill>
              </a:rPr>
              <a:t>ieșirii.Rezultatul</a:t>
            </a:r>
            <a:r>
              <a:rPr lang="en-GB" sz="2000" dirty="0">
                <a:solidFill>
                  <a:schemeClr val="tx1"/>
                </a:solidFill>
              </a:rPr>
              <a:t> are WIDTH + 1 </a:t>
            </a:r>
            <a:r>
              <a:rPr lang="en-GB" sz="2000" dirty="0" err="1">
                <a:solidFill>
                  <a:schemeClr val="tx1"/>
                </a:solidFill>
              </a:rPr>
              <a:t>biți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pentru</a:t>
            </a:r>
            <a:r>
              <a:rPr lang="en-GB" sz="2000" dirty="0">
                <a:solidFill>
                  <a:schemeClr val="tx1"/>
                </a:solidFill>
              </a:rPr>
              <a:t> a include carry-out.</a:t>
            </a:r>
          </a:p>
        </p:txBody>
      </p:sp>
    </p:spTree>
    <p:extLst>
      <p:ext uri="{BB962C8B-B14F-4D97-AF65-F5344CB8AC3E}">
        <p14:creationId xmlns:p14="http://schemas.microsoft.com/office/powerpoint/2010/main" val="2999684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0375B-D64E-D636-402A-380448DC0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8" y="873457"/>
            <a:ext cx="3558235" cy="5222543"/>
          </a:xfrm>
        </p:spPr>
        <p:txBody>
          <a:bodyPr>
            <a:normAutofit/>
          </a:bodyPr>
          <a:lstStyle/>
          <a:p>
            <a:r>
              <a:rPr lang="fr-FR" sz="2800" dirty="0">
                <a:solidFill>
                  <a:srgbClr val="FFFFFF"/>
                </a:solidFill>
              </a:rPr>
              <a:t> </a:t>
            </a:r>
            <a:r>
              <a:rPr lang="fr-FR" sz="28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Scădere</a:t>
            </a:r>
            <a:r>
              <a:rPr lang="fr-FR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fr-FR" sz="28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Complement</a:t>
            </a:r>
            <a:r>
              <a:rPr lang="fr-FR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față</a:t>
            </a:r>
            <a:r>
              <a:rPr lang="fr-FR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2</a:t>
            </a:r>
            <a:endParaRPr lang="en-GB" sz="2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DD6D9-EC51-E105-568E-D4FCAC265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r>
              <a:rPr lang="en-GB" sz="2000" dirty="0" err="1">
                <a:solidFill>
                  <a:schemeClr val="tx1"/>
                </a:solidFill>
              </a:rPr>
              <a:t>Scăderea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este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realizată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prin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utilizarea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unui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modul</a:t>
            </a:r>
            <a:r>
              <a:rPr lang="en-GB" sz="2000" dirty="0">
                <a:solidFill>
                  <a:schemeClr val="tx1"/>
                </a:solidFill>
              </a:rPr>
              <a:t> adder </a:t>
            </a:r>
            <a:r>
              <a:rPr lang="en-GB" sz="2000" dirty="0" err="1">
                <a:solidFill>
                  <a:schemeClr val="tx1"/>
                </a:solidFill>
              </a:rPr>
              <a:t>și</a:t>
            </a:r>
            <a:r>
              <a:rPr lang="en-GB" sz="2000" dirty="0">
                <a:solidFill>
                  <a:schemeClr val="tx1"/>
                </a:solidFill>
              </a:rPr>
              <a:t> complement </a:t>
            </a:r>
            <a:r>
              <a:rPr lang="en-GB" sz="2000" dirty="0" err="1">
                <a:solidFill>
                  <a:schemeClr val="tx1"/>
                </a:solidFill>
              </a:rPr>
              <a:t>față</a:t>
            </a:r>
            <a:r>
              <a:rPr lang="en-GB" sz="2000" dirty="0">
                <a:solidFill>
                  <a:schemeClr val="tx1"/>
                </a:solidFill>
              </a:rPr>
              <a:t> de 2.Mai exact, </a:t>
            </a:r>
            <a:r>
              <a:rPr lang="en-GB" sz="2000" dirty="0" err="1">
                <a:solidFill>
                  <a:schemeClr val="tx1"/>
                </a:solidFill>
              </a:rPr>
              <a:t>pentru</a:t>
            </a:r>
            <a:r>
              <a:rPr lang="en-GB" sz="2000" dirty="0">
                <a:solidFill>
                  <a:schemeClr val="tx1"/>
                </a:solidFill>
              </a:rPr>
              <a:t> a </a:t>
            </a:r>
            <a:r>
              <a:rPr lang="en-GB" sz="2000" dirty="0" err="1">
                <a:solidFill>
                  <a:schemeClr val="tx1"/>
                </a:solidFill>
              </a:rPr>
              <a:t>efectua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operația</a:t>
            </a:r>
            <a:r>
              <a:rPr lang="en-GB" sz="2000" dirty="0">
                <a:solidFill>
                  <a:schemeClr val="tx1"/>
                </a:solidFill>
              </a:rPr>
              <a:t> a - b, </a:t>
            </a:r>
            <a:r>
              <a:rPr lang="en-GB" sz="2000" dirty="0" err="1">
                <a:solidFill>
                  <a:schemeClr val="tx1"/>
                </a:solidFill>
              </a:rPr>
              <a:t>modulul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transformă</a:t>
            </a:r>
            <a:r>
              <a:rPr lang="en-GB" sz="2000" dirty="0">
                <a:solidFill>
                  <a:schemeClr val="tx1"/>
                </a:solidFill>
              </a:rPr>
              <a:t> b </a:t>
            </a:r>
            <a:r>
              <a:rPr lang="en-GB" sz="2000" dirty="0" err="1">
                <a:solidFill>
                  <a:schemeClr val="tx1"/>
                </a:solidFill>
              </a:rPr>
              <a:t>într</a:t>
            </a:r>
            <a:r>
              <a:rPr lang="en-GB" sz="2000" dirty="0">
                <a:solidFill>
                  <a:schemeClr val="tx1"/>
                </a:solidFill>
              </a:rPr>
              <a:t>-un complement </a:t>
            </a:r>
            <a:r>
              <a:rPr lang="en-GB" sz="2000" dirty="0" err="1">
                <a:solidFill>
                  <a:schemeClr val="tx1"/>
                </a:solidFill>
              </a:rPr>
              <a:t>față</a:t>
            </a:r>
            <a:r>
              <a:rPr lang="en-GB" sz="2000" dirty="0">
                <a:solidFill>
                  <a:schemeClr val="tx1"/>
                </a:solidFill>
              </a:rPr>
              <a:t> de 2 (</a:t>
            </a:r>
            <a:r>
              <a:rPr lang="en-GB" sz="2000" dirty="0" err="1">
                <a:solidFill>
                  <a:schemeClr val="tx1"/>
                </a:solidFill>
              </a:rPr>
              <a:t>adică</a:t>
            </a:r>
            <a:r>
              <a:rPr lang="en-GB" sz="2000" dirty="0">
                <a:solidFill>
                  <a:schemeClr val="tx1"/>
                </a:solidFill>
              </a:rPr>
              <a:t> ~b + 1) </a:t>
            </a:r>
            <a:r>
              <a:rPr lang="en-GB" sz="2000" dirty="0" err="1">
                <a:solidFill>
                  <a:schemeClr val="tx1"/>
                </a:solidFill>
              </a:rPr>
              <a:t>și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apoi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efectuează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adunarea</a:t>
            </a:r>
            <a:r>
              <a:rPr lang="en-GB" sz="2000" dirty="0">
                <a:solidFill>
                  <a:schemeClr val="tx1"/>
                </a:solidFill>
              </a:rPr>
              <a:t> a + (~b) + 1.Semnalul </a:t>
            </a:r>
            <a:r>
              <a:rPr lang="en-GB" sz="2000" dirty="0" err="1">
                <a:solidFill>
                  <a:schemeClr val="tx1"/>
                </a:solidFill>
              </a:rPr>
              <a:t>en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controlează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activarea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complementului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față</a:t>
            </a:r>
            <a:r>
              <a:rPr lang="en-GB" sz="2000" dirty="0">
                <a:solidFill>
                  <a:schemeClr val="tx1"/>
                </a:solidFill>
              </a:rPr>
              <a:t> de 2.Rezultatul final are WIDTH </a:t>
            </a:r>
            <a:r>
              <a:rPr lang="en-GB" sz="2000" dirty="0" err="1">
                <a:solidFill>
                  <a:schemeClr val="tx1"/>
                </a:solidFill>
              </a:rPr>
              <a:t>biți</a:t>
            </a:r>
            <a:r>
              <a:rPr lang="en-GB" sz="2000" dirty="0">
                <a:solidFill>
                  <a:schemeClr val="tx1"/>
                </a:solidFill>
              </a:rPr>
              <a:t> (</a:t>
            </a:r>
            <a:r>
              <a:rPr lang="en-GB" sz="2000" dirty="0" err="1">
                <a:solidFill>
                  <a:schemeClr val="tx1"/>
                </a:solidFill>
              </a:rPr>
              <a:t>ignorați</a:t>
            </a:r>
            <a:r>
              <a:rPr lang="en-GB" sz="2000" dirty="0">
                <a:solidFill>
                  <a:schemeClr val="tx1"/>
                </a:solidFill>
              </a:rPr>
              <a:t> carry-out-</a:t>
            </a:r>
            <a:r>
              <a:rPr lang="en-GB" sz="2000" dirty="0" err="1">
                <a:solidFill>
                  <a:schemeClr val="tx1"/>
                </a:solidFill>
              </a:rPr>
              <a:t>ul</a:t>
            </a:r>
            <a:r>
              <a:rPr lang="en-GB" sz="2000" dirty="0">
                <a:solidFill>
                  <a:schemeClr val="tx1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330265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ABC016-31B1-4D76-7607-25A461A0F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Înmulțire</a:t>
            </a:r>
            <a:r>
              <a:rPr lang="en-GB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sz="28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Algoritmul</a:t>
            </a:r>
            <a:r>
              <a:rPr lang="en-GB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Booth Radix-4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0F0B5-8930-4ECD-AFB6-DB22CFA17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r>
              <a:rPr lang="en-GB" sz="2000" dirty="0" err="1">
                <a:solidFill>
                  <a:schemeClr val="tx1"/>
                </a:solidFill>
              </a:rPr>
              <a:t>Înmulțirea</a:t>
            </a:r>
            <a:r>
              <a:rPr lang="en-GB" sz="2000" dirty="0">
                <a:solidFill>
                  <a:schemeClr val="tx1"/>
                </a:solidFill>
              </a:rPr>
              <a:t> a </a:t>
            </a:r>
            <a:r>
              <a:rPr lang="en-GB" sz="2000" dirty="0" err="1">
                <a:solidFill>
                  <a:schemeClr val="tx1"/>
                </a:solidFill>
              </a:rPr>
              <a:t>fost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implementată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folosind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algoritmul</a:t>
            </a:r>
            <a:r>
              <a:rPr lang="en-GB" sz="2000" dirty="0">
                <a:solidFill>
                  <a:schemeClr val="tx1"/>
                </a:solidFill>
              </a:rPr>
              <a:t> Booth Radix-4 </a:t>
            </a:r>
            <a:r>
              <a:rPr lang="en-GB" sz="2000" dirty="0" err="1">
                <a:solidFill>
                  <a:schemeClr val="tx1"/>
                </a:solidFill>
              </a:rPr>
              <a:t>pentru</a:t>
            </a:r>
            <a:r>
              <a:rPr lang="en-GB" sz="2000" dirty="0">
                <a:solidFill>
                  <a:schemeClr val="tx1"/>
                </a:solidFill>
              </a:rPr>
              <a:t> a </a:t>
            </a:r>
            <a:r>
              <a:rPr lang="en-GB" sz="2000" dirty="0" err="1">
                <a:solidFill>
                  <a:schemeClr val="tx1"/>
                </a:solidFill>
              </a:rPr>
              <a:t>optimiza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performanța</a:t>
            </a:r>
            <a:r>
              <a:rPr lang="en-GB" sz="2000" dirty="0">
                <a:solidFill>
                  <a:schemeClr val="tx1"/>
                </a:solidFill>
              </a:rPr>
              <a:t>. </a:t>
            </a:r>
            <a:r>
              <a:rPr lang="en-GB" sz="2000" dirty="0" err="1">
                <a:solidFill>
                  <a:schemeClr val="tx1"/>
                </a:solidFill>
              </a:rPr>
              <a:t>În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această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implementare:Pipelining</a:t>
            </a:r>
            <a:r>
              <a:rPr lang="en-GB" sz="2000" dirty="0">
                <a:solidFill>
                  <a:schemeClr val="tx1"/>
                </a:solidFill>
              </a:rPr>
              <a:t>: </a:t>
            </a:r>
            <a:r>
              <a:rPr lang="en-GB" sz="2000" dirty="0" err="1">
                <a:solidFill>
                  <a:schemeClr val="tx1"/>
                </a:solidFill>
              </a:rPr>
              <a:t>Folosirea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registrelor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pentru</a:t>
            </a:r>
            <a:r>
              <a:rPr lang="en-GB" sz="2000" dirty="0">
                <a:solidFill>
                  <a:schemeClr val="tx1"/>
                </a:solidFill>
              </a:rPr>
              <a:t> a </a:t>
            </a:r>
            <a:r>
              <a:rPr lang="en-GB" sz="2000" dirty="0" err="1">
                <a:solidFill>
                  <a:schemeClr val="tx1"/>
                </a:solidFill>
              </a:rPr>
              <a:t>efectua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pași</a:t>
            </a:r>
            <a:r>
              <a:rPr lang="en-GB" sz="2000" dirty="0">
                <a:solidFill>
                  <a:schemeClr val="tx1"/>
                </a:solidFill>
              </a:rPr>
              <a:t> de </a:t>
            </a:r>
            <a:r>
              <a:rPr lang="en-GB" sz="2000" dirty="0" err="1">
                <a:solidFill>
                  <a:schemeClr val="tx1"/>
                </a:solidFill>
              </a:rPr>
              <a:t>multiplicare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în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mai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multe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etape.Shift-uri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și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selecție</a:t>
            </a:r>
            <a:r>
              <a:rPr lang="en-GB" sz="2000" dirty="0">
                <a:solidFill>
                  <a:schemeClr val="tx1"/>
                </a:solidFill>
              </a:rPr>
              <a:t>: Se </a:t>
            </a:r>
            <a:r>
              <a:rPr lang="en-GB" sz="2000" dirty="0" err="1">
                <a:solidFill>
                  <a:schemeClr val="tx1"/>
                </a:solidFill>
              </a:rPr>
              <a:t>alternează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între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fazele</a:t>
            </a:r>
            <a:r>
              <a:rPr lang="en-GB" sz="2000" dirty="0">
                <a:solidFill>
                  <a:schemeClr val="tx1"/>
                </a:solidFill>
              </a:rPr>
              <a:t> de </a:t>
            </a:r>
            <a:r>
              <a:rPr lang="en-GB" sz="2000" dirty="0" err="1">
                <a:solidFill>
                  <a:schemeClr val="tx1"/>
                </a:solidFill>
              </a:rPr>
              <a:t>calcul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și</a:t>
            </a:r>
            <a:r>
              <a:rPr lang="en-GB" sz="2000" dirty="0">
                <a:solidFill>
                  <a:schemeClr val="tx1"/>
                </a:solidFill>
              </a:rPr>
              <a:t> shift, </a:t>
            </a:r>
            <a:r>
              <a:rPr lang="en-GB" sz="2000" dirty="0" err="1">
                <a:solidFill>
                  <a:schemeClr val="tx1"/>
                </a:solidFill>
              </a:rPr>
              <a:t>folosind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tehnici</a:t>
            </a:r>
            <a:r>
              <a:rPr lang="en-GB" sz="2000" dirty="0">
                <a:solidFill>
                  <a:schemeClr val="tx1"/>
                </a:solidFill>
              </a:rPr>
              <a:t> de shift pe 2 </a:t>
            </a:r>
            <a:r>
              <a:rPr lang="en-GB" sz="2000" dirty="0" err="1">
                <a:solidFill>
                  <a:schemeClr val="tx1"/>
                </a:solidFill>
              </a:rPr>
              <a:t>biți</a:t>
            </a:r>
            <a:r>
              <a:rPr lang="en-GB" sz="2000" dirty="0">
                <a:solidFill>
                  <a:schemeClr val="tx1"/>
                </a:solidFill>
              </a:rPr>
              <a:t> pe </a:t>
            </a:r>
            <a:r>
              <a:rPr lang="en-GB" sz="2000" dirty="0" err="1">
                <a:solidFill>
                  <a:schemeClr val="tx1"/>
                </a:solidFill>
              </a:rPr>
              <a:t>ciclu.Controlul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fazelor</a:t>
            </a:r>
            <a:r>
              <a:rPr lang="en-GB" sz="2000" dirty="0">
                <a:solidFill>
                  <a:schemeClr val="tx1"/>
                </a:solidFill>
              </a:rPr>
              <a:t>: </a:t>
            </a:r>
            <a:r>
              <a:rPr lang="en-GB" sz="2000" dirty="0" err="1">
                <a:solidFill>
                  <a:schemeClr val="tx1"/>
                </a:solidFill>
              </a:rPr>
              <a:t>Faza</a:t>
            </a:r>
            <a:r>
              <a:rPr lang="en-GB" sz="2000" dirty="0">
                <a:solidFill>
                  <a:schemeClr val="tx1"/>
                </a:solidFill>
              </a:rPr>
              <a:t> de COMPUTE </a:t>
            </a:r>
            <a:r>
              <a:rPr lang="en-GB" sz="2000" dirty="0" err="1">
                <a:solidFill>
                  <a:schemeClr val="tx1"/>
                </a:solidFill>
              </a:rPr>
              <a:t>calculează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rezultatele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intermediare</a:t>
            </a:r>
            <a:r>
              <a:rPr lang="en-GB" sz="2000" dirty="0">
                <a:solidFill>
                  <a:schemeClr val="tx1"/>
                </a:solidFill>
              </a:rPr>
              <a:t>, </a:t>
            </a:r>
            <a:r>
              <a:rPr lang="en-GB" sz="2000" dirty="0" err="1">
                <a:solidFill>
                  <a:schemeClr val="tx1"/>
                </a:solidFill>
              </a:rPr>
              <a:t>iar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faza</a:t>
            </a:r>
            <a:r>
              <a:rPr lang="en-GB" sz="2000" dirty="0">
                <a:solidFill>
                  <a:schemeClr val="tx1"/>
                </a:solidFill>
              </a:rPr>
              <a:t> de SHIFT </a:t>
            </a:r>
            <a:r>
              <a:rPr lang="en-GB" sz="2000" dirty="0" err="1">
                <a:solidFill>
                  <a:schemeClr val="tx1"/>
                </a:solidFill>
              </a:rPr>
              <a:t>efectuează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deplasarea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și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actualizarea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rezultatelor.Rezultatul</a:t>
            </a:r>
            <a:r>
              <a:rPr lang="en-GB" sz="2000" dirty="0">
                <a:solidFill>
                  <a:schemeClr val="tx1"/>
                </a:solidFill>
              </a:rPr>
              <a:t> final </a:t>
            </a:r>
            <a:r>
              <a:rPr lang="en-GB" sz="2000" dirty="0" err="1">
                <a:solidFill>
                  <a:schemeClr val="tx1"/>
                </a:solidFill>
              </a:rPr>
              <a:t>este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stocat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în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registrul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P_reg</a:t>
            </a:r>
            <a:r>
              <a:rPr lang="en-GB" sz="2000" dirty="0">
                <a:solidFill>
                  <a:schemeClr val="tx1"/>
                </a:solidFill>
              </a:rPr>
              <a:t>[16:1], care </a:t>
            </a:r>
            <a:r>
              <a:rPr lang="en-GB" sz="2000" dirty="0" err="1">
                <a:solidFill>
                  <a:schemeClr val="tx1"/>
                </a:solidFill>
              </a:rPr>
              <a:t>reprezintă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produsul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semnat</a:t>
            </a:r>
            <a:r>
              <a:rPr lang="en-GB" sz="2000" dirty="0">
                <a:solidFill>
                  <a:schemeClr val="tx1"/>
                </a:solidFill>
              </a:rPr>
              <a:t> pe 16 </a:t>
            </a:r>
            <a:r>
              <a:rPr lang="en-GB" sz="2000" dirty="0" err="1">
                <a:solidFill>
                  <a:schemeClr val="tx1"/>
                </a:solidFill>
              </a:rPr>
              <a:t>biți</a:t>
            </a:r>
            <a:r>
              <a:rPr lang="en-GB" sz="20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0689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216F99-07E6-3A4F-CB2D-23ACBC5F5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Împărțire</a:t>
            </a:r>
            <a:r>
              <a:rPr lang="en-GB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sz="28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Algoritmul</a:t>
            </a:r>
            <a:r>
              <a:rPr lang="en-GB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Radix-2 SRT</a:t>
            </a:r>
            <a:br>
              <a:rPr lang="en-GB" sz="2800" dirty="0">
                <a:solidFill>
                  <a:srgbClr val="FFFFFF"/>
                </a:solidFill>
              </a:rPr>
            </a:br>
            <a:endParaRPr lang="en-GB" sz="28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EAB08-FE68-C047-6683-197C14174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Modulul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împărțire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utilizează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variantă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simplificată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algoritmului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Radix-2 SRT, specific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implementări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hardware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eficiente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Designul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include:</a:t>
            </a:r>
          </a:p>
          <a:p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Deplasări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(Shifting): La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ciclu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ceas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registrul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{rest,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cât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deplasat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stânga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pregăti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următoarea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estimare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cât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parțial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Estimarea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câtului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pas, se decide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bitul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cât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semnul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restului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parțial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Se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aplică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scădere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adunare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divizorului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păstra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convergența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Corectare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finală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După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iterații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restul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adaugă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divizorul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obține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restul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corect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Controlul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iterațiilor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Împărțirea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realizată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secvențial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 8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pași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iar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semnalul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done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final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indica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disponibilitatea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rezultatului</a:t>
            </a: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7851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2ED84DD6-8A68-4994-8094-8DDBE89BF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76049D7-366E-4AC9-B689-460CC28F8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246887"/>
            <a:ext cx="4397755" cy="6377939"/>
          </a:xfrm>
          <a:prstGeom prst="rect">
            <a:avLst/>
          </a:prstGeom>
          <a:solidFill>
            <a:srgbClr val="A6B72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C9E91F8-C4AE-4EB0-8B76-FF3F3FC71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70284" y="4405863"/>
            <a:ext cx="2763075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AD45A04-4150-4943-BB06-EEEDDD73B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CF023393-FEBC-2A69-45CE-3DA29ECCA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5138" y="857675"/>
            <a:ext cx="3113366" cy="3622844"/>
          </a:xfrm>
        </p:spPr>
        <p:txBody>
          <a:bodyPr>
            <a:normAutofit/>
          </a:bodyPr>
          <a:lstStyle/>
          <a:p>
            <a:r>
              <a:rPr lang="en-GB" sz="4200"/>
              <a:t>Diagrama</a:t>
            </a:r>
            <a:r>
              <a:rPr lang="en-GB" sz="4200" dirty="0"/>
              <a:t> hardware</a:t>
            </a:r>
          </a:p>
        </p:txBody>
      </p:sp>
      <p:sp>
        <p:nvSpPr>
          <p:cNvPr id="79" name="Subtitle 78">
            <a:extLst>
              <a:ext uri="{FF2B5EF4-FFF2-40B4-BE49-F238E27FC236}">
                <a16:creationId xmlns:a16="http://schemas.microsoft.com/office/drawing/2014/main" id="{DE51BD14-2CBF-71FC-9E13-0F120C67A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0328" y="4541697"/>
            <a:ext cx="3082986" cy="1543422"/>
          </a:xfrm>
        </p:spPr>
        <p:txBody>
          <a:bodyPr>
            <a:normAutofit/>
          </a:bodyPr>
          <a:lstStyle/>
          <a:p>
            <a:endParaRPr lang="en-GB" sz="2000"/>
          </a:p>
        </p:txBody>
      </p:sp>
      <p:pic>
        <p:nvPicPr>
          <p:cNvPr id="100" name="Picture 99" descr="A diagram of a machine&#10;&#10;AI-generated content may be incorrect.">
            <a:extLst>
              <a:ext uri="{FF2B5EF4-FFF2-40B4-BE49-F238E27FC236}">
                <a16:creationId xmlns:a16="http://schemas.microsoft.com/office/drawing/2014/main" id="{8D79E5BD-2EF6-BA2E-F255-0F3C0B51D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64" y="919096"/>
            <a:ext cx="6045576" cy="501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32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7B0-9905-01BF-3EC0-1C151F6BE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006" y="5506497"/>
            <a:ext cx="9875520" cy="962638"/>
          </a:xfrm>
        </p:spPr>
        <p:txBody>
          <a:bodyPr/>
          <a:lstStyle/>
          <a:p>
            <a:pPr algn="ctr"/>
            <a:r>
              <a:rPr lang="en-GB" dirty="0"/>
              <a:t>WAVE ADDER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CA62C6-EB53-DEC6-52A1-0E8E25C6C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2" y="261257"/>
            <a:ext cx="11720052" cy="510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563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323FE0-DFB0-4368-A3C2-FC1402A9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BCA77F-6A46-46C1-822E-DF8DB6F0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0513689-D00A-4D15-B8A3-AA50EC4B2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0AFB0-2FF3-C39B-95D2-D81C7DAFB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060" y="5305529"/>
            <a:ext cx="8640201" cy="13086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 dirty="0">
                <a:solidFill>
                  <a:schemeClr val="tx1"/>
                </a:solidFill>
              </a:rPr>
              <a:t>WAVE SUBSTRACTION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7EB86D-30A0-CCD2-9037-C1C7C1BEC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40" y="243840"/>
            <a:ext cx="11724640" cy="533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44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9C0BCD-BEE9-423F-A51C-BCCD8E5EA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98D094-42B2-42BA-AA14-E8FBE073A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65D64B-59F4-4BDC-B833-A17EF1E04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FED537-3AF1-4C36-9904-77B6A54D2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629AEB3-26AB-F341-4D32-25C22B5BC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96" y="5918478"/>
            <a:ext cx="9966960" cy="144303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85000"/>
              </a:lnSpc>
            </a:pPr>
            <a:r>
              <a:rPr lang="en-US" sz="6600" b="1" cap="all" dirty="0">
                <a:solidFill>
                  <a:srgbClr val="FFFFFF"/>
                </a:solidFill>
              </a:rPr>
              <a:t>WAVE MAIN</a:t>
            </a:r>
            <a:br>
              <a:rPr lang="en-US" sz="6600" b="1" cap="all" dirty="0">
                <a:solidFill>
                  <a:srgbClr val="FFFFFF"/>
                </a:solidFill>
              </a:rPr>
            </a:br>
            <a:endParaRPr lang="en-US" sz="6600" b="1" cap="all" dirty="0">
              <a:solidFill>
                <a:srgbClr val="FFFFFF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39BED4-1DBA-01B0-59A6-286B08CBB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40" y="243840"/>
            <a:ext cx="11724640" cy="521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89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9C0BCD-BEE9-423F-A51C-BCCD8E5EA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98D094-42B2-42BA-AA14-E8FBE073A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65D64B-59F4-4BDC-B833-A17EF1E04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61BF403-C858-4A9F-81D1-22D551BE0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3A5B67-3501-4951-8D6C-C3805F657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323114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6C47295-6093-91E6-87DD-EC1AE4F2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3895343"/>
            <a:ext cx="9966960" cy="26360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cap="all" dirty="0">
                <a:solidFill>
                  <a:srgbClr val="FFFFFF"/>
                </a:solidFill>
              </a:rPr>
              <a:t>WAVE MULTIPLIER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E28783-B157-11E8-AA04-DFC1FDDE0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" r="2" b="2"/>
          <a:stretch/>
        </p:blipFill>
        <p:spPr>
          <a:xfrm>
            <a:off x="231140" y="236221"/>
            <a:ext cx="11724640" cy="508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88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4AF37F0-1E8F-443E-AA28-4BC634820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BE9D54-6250-40F2-A23A-F9CEBF5F9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840" y="256540"/>
            <a:ext cx="11704320" cy="63652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46E6328-0D82-4747-8B39-60373321B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5896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BCB9B48-6BFD-E420-761D-61F9E9A83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4360984"/>
            <a:ext cx="9966960" cy="21402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cap="all" dirty="0"/>
              <a:t>WAVE DIVIDER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D50839-64CA-683B-2825-21F6EEF21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60" y="275629"/>
            <a:ext cx="11704320" cy="519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770554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496</TotalTime>
  <Words>606</Words>
  <Application>Microsoft Office PowerPoint</Application>
  <PresentationFormat>Widescreen</PresentationFormat>
  <Paragraphs>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Corbel</vt:lpstr>
      <vt:lpstr>Times New Roman</vt:lpstr>
      <vt:lpstr>Basis</vt:lpstr>
      <vt:lpstr>Proiect Calculatoare Numerice 8-bit ALU Simulation </vt:lpstr>
      <vt:lpstr>Ce este un Alu?</vt:lpstr>
      <vt:lpstr>Arhitectură Modulară — Decizie de Proiectare</vt:lpstr>
      <vt:lpstr>Adunare – Ripple Carry Adder (RCA)</vt:lpstr>
      <vt:lpstr> Scădere – Complement față de 2</vt:lpstr>
      <vt:lpstr>Înmulțire – Algoritmul Booth Radix-4</vt:lpstr>
      <vt:lpstr>Împărțire – Algoritmul Radix-2 SRT </vt:lpstr>
      <vt:lpstr>Diagrama hardware</vt:lpstr>
      <vt:lpstr>WAVE ADDER</vt:lpstr>
      <vt:lpstr>WAVE SUBSTRACTION</vt:lpstr>
      <vt:lpstr>WAVE MAIN </vt:lpstr>
      <vt:lpstr>WAVE MULTIPLIER</vt:lpstr>
      <vt:lpstr>WAVE DIVIDER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Mihai -Raul Mergea</dc:creator>
  <cp:lastModifiedBy>Mihai -Raul Mergea</cp:lastModifiedBy>
  <cp:revision>1</cp:revision>
  <dcterms:created xsi:type="dcterms:W3CDTF">2025-04-29T15:34:01Z</dcterms:created>
  <dcterms:modified xsi:type="dcterms:W3CDTF">2025-04-29T23:50:13Z</dcterms:modified>
</cp:coreProperties>
</file>